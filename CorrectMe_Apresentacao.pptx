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A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900000">
            <a:off x="5943600" y="0"/>
            <a:ext cx="73152" cy="51435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brancofundoTransparentev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365760"/>
            <a:ext cx="1981200" cy="11887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1828800"/>
            <a:ext cx="5486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400" b="1">
                <a:solidFill>
                  <a:srgbClr val="FFFFFF"/>
                </a:solidFill>
              </a:defRPr>
            </a:pPr>
            <a:r>
              <a:t>CorrectMe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743200"/>
            <a:ext cx="5486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>
                <a:solidFill>
                  <a:srgbClr val="A855F7"/>
                </a:solidFill>
              </a:defRPr>
            </a:pPr>
            <a:r>
              <a:t>Aprendizagem de Alemão com 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383280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9CA3AF"/>
                </a:solidFill>
              </a:defRPr>
            </a:pPr>
            <a:r>
              <a:t>Plataforma completa de aprendizado de alemão com inteligência artificial para brasileiros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29768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22D3EE"/>
                </a:solidFill>
              </a:defRPr>
            </a:pPr>
            <a:r>
              <a:t>Dr. Thiago R. S. Pastro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731520"/>
            <a:ext cx="2560320" cy="1188720"/>
          </a:xfrm>
          <a:prstGeom prst="roundRect">
            <a:avLst/>
          </a:prstGeom>
          <a:solidFill>
            <a:srgbClr val="251C45"/>
          </a:solidFill>
          <a:ln w="2540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914400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EC4899"/>
                </a:solidFill>
              </a:defRPr>
            </a:pPr>
            <a:r>
              <a:t>Correção de Textos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280160"/>
            <a:ext cx="2194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9CA3AF"/>
                </a:solidFill>
              </a:defRPr>
            </a:pPr>
            <a:r>
              <a:t>IA corrige erros gramaticais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103120"/>
            <a:ext cx="2560320" cy="1188720"/>
          </a:xfrm>
          <a:prstGeom prst="roundRect">
            <a:avLst/>
          </a:prstGeom>
          <a:solidFill>
            <a:srgbClr val="251C45"/>
          </a:solidFill>
          <a:ln w="2540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2286000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A855F7"/>
                </a:solidFill>
              </a:defRPr>
            </a:pPr>
            <a:r>
              <a:t>Prática de Conversação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651760"/>
            <a:ext cx="2194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9CA3AF"/>
                </a:solidFill>
              </a:defRPr>
            </a:pPr>
            <a:r>
              <a:t>Fale com personagens IA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474720"/>
            <a:ext cx="2560320" cy="1188720"/>
          </a:xfrm>
          <a:prstGeom prst="roundRect">
            <a:avLst/>
          </a:prstGeom>
          <a:solidFill>
            <a:srgbClr val="251C45"/>
          </a:solidFill>
          <a:ln w="254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3657600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22C55E"/>
                </a:solidFill>
              </a:defRPr>
            </a:pPr>
            <a:r>
              <a:t>Jogos e Flashcards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4023360"/>
            <a:ext cx="2194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9CA3AF"/>
                </a:solidFill>
              </a:defRPr>
            </a:pPr>
            <a:r>
              <a:t>Aprenda se divertindo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482346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CA3AF"/>
                </a:solidFill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A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Índice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0" y="914400"/>
            <a:ext cx="2743200" cy="27432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0" y="1280160"/>
            <a:ext cx="548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EC4899"/>
                </a:solidFill>
              </a:defRPr>
            </a:pPr>
            <a: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77440" y="137160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9CA3AF"/>
                </a:solidFill>
              </a:defRPr>
            </a:pPr>
            <a:r>
              <a:t>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34640" y="1280160"/>
            <a:ext cx="4572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Vantagens do CorrectMe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783080"/>
            <a:ext cx="548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A855F7"/>
                </a:solidFill>
              </a:defRPr>
            </a:pPr>
            <a: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7440" y="187452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9CA3AF"/>
                </a:solidFill>
              </a:defRPr>
            </a:pPr>
            <a: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34640" y="1783080"/>
            <a:ext cx="4572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Sistema de Categorização de Erros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2286000"/>
            <a:ext cx="548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22D3EE"/>
                </a:solidFill>
              </a:defRPr>
            </a:pPr>
            <a: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7440" y="237744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9CA3AF"/>
                </a:solidFill>
              </a:defRPr>
            </a:pPr>
            <a:r>
              <a:t>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40" y="2286000"/>
            <a:ext cx="4572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Recursos da Plataforma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788920"/>
            <a:ext cx="548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22C55E"/>
                </a:solidFill>
              </a:defRPr>
            </a:pPr>
            <a: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288036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9CA3AF"/>
                </a:solidFill>
              </a:defRPr>
            </a:pPr>
            <a: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34640" y="2788920"/>
            <a:ext cx="4572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Chatbot e Ferramentas 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291840"/>
            <a:ext cx="548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97316"/>
                </a:solidFill>
              </a:defRPr>
            </a:pPr>
            <a: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40" y="338328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9CA3AF"/>
                </a:solidFill>
              </a:defRPr>
            </a:pPr>
            <a:r>
              <a:t>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40" y="3291840"/>
            <a:ext cx="4572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Como Funciona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3794760"/>
            <a:ext cx="548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3B82F6"/>
                </a:solidFill>
              </a:defRPr>
            </a:pPr>
            <a:r>
              <a:t>06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7440" y="388620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9CA3AF"/>
                </a:solidFill>
              </a:defRPr>
            </a:pPr>
            <a:r>
              <a:t>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34640" y="3794760"/>
            <a:ext cx="4572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Análise de Custo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4297680"/>
            <a:ext cx="548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EC4899"/>
                </a:solidFill>
              </a:defRPr>
            </a:pPr>
            <a:r>
              <a:t>07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77440" y="438912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9CA3AF"/>
                </a:solidFill>
              </a:defRPr>
            </a:pPr>
            <a:r>
              <a:t>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34640" y="4297680"/>
            <a:ext cx="4572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Comparativo e Público Alvo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0" y="482346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CA3AF"/>
                </a:solidFill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A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Vantagens do CorrectMe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9CA3AF"/>
                </a:solidFill>
              </a:defRPr>
            </a:pPr>
            <a:r>
              <a:t>Por que o CorrectMe é a melhor escolha para aprender alemão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280160"/>
            <a:ext cx="1965960" cy="2926080"/>
          </a:xfrm>
          <a:prstGeom prst="roundRect">
            <a:avLst/>
          </a:prstGeom>
          <a:solidFill>
            <a:srgbClr val="251C45"/>
          </a:solidFill>
          <a:ln w="2540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05840" y="1508760"/>
            <a:ext cx="777240" cy="77724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600200"/>
            <a:ext cx="777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+60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423160"/>
            <a:ext cx="1783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Tópicos de Gramática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971800"/>
            <a:ext cx="1783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>
                <a:solidFill>
                  <a:srgbClr val="9CA3AF"/>
                </a:solidFill>
              </a:defRPr>
            </a:pPr>
            <a:r>
              <a:t>Cobertura completa de todos os tópicos gramaticais do alemão, do básico ao avançado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60320" y="1280160"/>
            <a:ext cx="1965960" cy="2926080"/>
          </a:xfrm>
          <a:prstGeom prst="roundRect">
            <a:avLst/>
          </a:prstGeom>
          <a:solidFill>
            <a:srgbClr val="251C45"/>
          </a:solidFill>
          <a:ln w="2540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154680" y="1508760"/>
            <a:ext cx="777240" cy="77724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54680" y="1600200"/>
            <a:ext cx="777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+50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0" y="2423160"/>
            <a:ext cx="1783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Temas de Conversa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51760" y="2971800"/>
            <a:ext cx="1783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>
                <a:solidFill>
                  <a:srgbClr val="9CA3AF"/>
                </a:solidFill>
              </a:defRPr>
            </a:pPr>
            <a:r>
              <a:t>Prática com diferentes personagens e contextos do cotidiano alemão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09160" y="1280160"/>
            <a:ext cx="1965960" cy="2926080"/>
          </a:xfrm>
          <a:prstGeom prst="roundRect">
            <a:avLst/>
          </a:prstGeom>
          <a:solidFill>
            <a:srgbClr val="251C45"/>
          </a:solidFill>
          <a:ln w="254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303520" y="1508760"/>
            <a:ext cx="777240" cy="77724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0" y="1600200"/>
            <a:ext cx="777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0600" y="2423160"/>
            <a:ext cx="1783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Categorias de Erros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00600" y="2971800"/>
            <a:ext cx="1783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>
                <a:solidFill>
                  <a:srgbClr val="9CA3AF"/>
                </a:solidFill>
              </a:defRPr>
            </a:pPr>
            <a:r>
              <a:t>Classificação inteligente que ajuda a focar nos seus pontos fracos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0" y="1280160"/>
            <a:ext cx="1965960" cy="2926080"/>
          </a:xfrm>
          <a:prstGeom prst="roundRect">
            <a:avLst/>
          </a:prstGeom>
          <a:solidFill>
            <a:srgbClr val="251C45"/>
          </a:solidFill>
          <a:ln w="254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452360" y="1508760"/>
            <a:ext cx="777240" cy="777240"/>
          </a:xfrm>
          <a:prstGeom prst="ellipse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52360" y="1600200"/>
            <a:ext cx="777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24/7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9440" y="2423160"/>
            <a:ext cx="1783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Disponível Sempre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971800"/>
            <a:ext cx="1783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>
                <a:solidFill>
                  <a:srgbClr val="9CA3AF"/>
                </a:solidFill>
              </a:defRPr>
            </a:pPr>
            <a:r>
              <a:t>Acesso ilimitado à plataforma, estude quando e onde quiser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0" y="482346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CA3AF"/>
                </a:solidFill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A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400" b="1">
                <a:solidFill>
                  <a:srgbClr val="FFFFFF"/>
                </a:solidFill>
              </a:defRPr>
            </a:pPr>
            <a:r>
              <a:t>Entenda Exatamente Onde Você Erra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9CA3AF"/>
                </a:solidFill>
              </a:defRPr>
            </a:pPr>
            <a:r>
              <a:t>Nosso sistema exclusivo de categorização identifica e classifica cada erro por cor, </a:t>
            </a:r>
            <a:br/>
            <a:r>
              <a:t>permitindo que você foque exatamente nos pontos que precisa melhorar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7680960" cy="59436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554480"/>
            <a:ext cx="109728" cy="59436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05840" y="1691640"/>
            <a:ext cx="320040" cy="32004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63040" y="160020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Declinação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187452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CA3AF"/>
                </a:solidFill>
              </a:defRPr>
            </a:pPr>
            <a:r>
              <a:t>Genus, Numerus, Kasus - Os 3 pilares da gramática alemã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1691640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C8C8D2"/>
                </a:solidFill>
              </a:defRPr>
            </a:pPr>
            <a:r>
              <a:t>Domine os casos e nunca mais erre der/die/das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240280"/>
            <a:ext cx="7680960" cy="59436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2240280"/>
            <a:ext cx="109728" cy="59436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05840" y="2377440"/>
            <a:ext cx="320040" cy="32004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63040" y="228600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Conjugação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256032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CA3AF"/>
                </a:solidFill>
              </a:defRPr>
            </a:pPr>
            <a:r>
              <a:t>Tempos verbais e formas conjugadas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2377440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C8C8D2"/>
                </a:solidFill>
              </a:defRPr>
            </a:pPr>
            <a:r>
              <a:t>Aprenda a conjugar verbos corretamente em qualquer tempo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2926080"/>
            <a:ext cx="7680960" cy="59436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2926080"/>
            <a:ext cx="109728" cy="59436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05840" y="3063240"/>
            <a:ext cx="320040" cy="32004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63040" y="297180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Preposições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324612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CA3AF"/>
                </a:solidFill>
              </a:defRPr>
            </a:pPr>
            <a:r>
              <a:t>Uso correto com Akkusativ, Dativ e Genitiv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31920" y="3063240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C8C8D2"/>
                </a:solidFill>
              </a:defRPr>
            </a:pPr>
            <a:r>
              <a:t>Saiba qual preposição usar e com qual caso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3611880"/>
            <a:ext cx="7680960" cy="59436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31520" y="3611880"/>
            <a:ext cx="109728" cy="59436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05840" y="3749040"/>
            <a:ext cx="320040" cy="320040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63040" y="365760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Sintaxe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63040" y="393192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CA3AF"/>
                </a:solidFill>
              </a:defRPr>
            </a:pPr>
            <a:r>
              <a:t>Estrutura e ordem das palavras nas frases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931920" y="3749040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C8C8D2"/>
                </a:solidFill>
              </a:defRPr>
            </a:pPr>
            <a:r>
              <a:t>Construa frases com a ordem correta do alemão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" y="4297680"/>
            <a:ext cx="7680960" cy="59436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31520" y="4297680"/>
            <a:ext cx="109728" cy="59436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05840" y="4434840"/>
            <a:ext cx="320040" cy="320040"/>
          </a:xfrm>
          <a:prstGeom prst="ellipse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463040" y="434340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Vocabulário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63040" y="461772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CA3AF"/>
                </a:solidFill>
              </a:defRPr>
            </a:pPr>
            <a:r>
              <a:t>Escolha de palavras e expressões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931920" y="4434840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C8C8D2"/>
                </a:solidFill>
              </a:defRPr>
            </a:pPr>
            <a:r>
              <a:t>Use as palavras certas para cada contexto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12480" y="482346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CA3AF"/>
                </a:solidFill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A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EC4899"/>
                </a:solidFill>
              </a:defRPr>
            </a:pPr>
            <a:r>
              <a:t>CORREÇÃO INTELIGENTE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4114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Feedback detalhado para cada erro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3931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CA3AF"/>
                </a:solidFill>
              </a:defRPr>
            </a:pPr>
            <a:r>
              <a:t>Nossa IA identifica erros de declinação, conjugação, sintaxe, preposições e vocabulário, destacando cada um com cores diferentes para facilitar o aprendizado.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194560"/>
            <a:ext cx="3931920" cy="54864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0080" y="2377440"/>
            <a:ext cx="182880" cy="18288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30428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</a:defRPr>
            </a:pPr>
            <a:r>
              <a:t>Correção gramatical e ortográfica em tempo real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834640"/>
            <a:ext cx="3931920" cy="54864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40080" y="3017520"/>
            <a:ext cx="182880" cy="18288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94436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</a:defRPr>
            </a:pPr>
            <a:r>
              <a:t>Feedback pedagógico que explica o 'porquê' de cada erro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474720"/>
            <a:ext cx="3931920" cy="54864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0080" y="3657600"/>
            <a:ext cx="182880" cy="18288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58444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</a:defRPr>
            </a:pPr>
            <a:r>
              <a:t>IA treinada para erros comuns de brasileiros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114800"/>
            <a:ext cx="3931920" cy="54864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4297680"/>
            <a:ext cx="182880" cy="18288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22452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</a:defRPr>
            </a:pPr>
            <a:r>
              <a:t>Exportação do texto corrigido</a:t>
            </a:r>
          </a:p>
        </p:txBody>
      </p:sp>
      <p:pic>
        <p:nvPicPr>
          <p:cNvPr id="18" name="Picture 17" descr="Foto 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457200"/>
            <a:ext cx="4297680" cy="2077717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412480" y="482346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CA3AF"/>
                </a:solidFill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A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A855F7"/>
                </a:solidFill>
              </a:defRPr>
            </a:pPr>
            <a:r>
              <a:t>ACOMPANHE SEU PROGRESSO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4114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Visualize sua evolução em tempo real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3931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CA3AF"/>
                </a:solidFill>
              </a:defRPr>
            </a:pPr>
            <a:r>
              <a:t>Dashboard completo com gráficos e estatísticas detalhadas para acompanhar seu desenvolvimento no alemão.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194560"/>
            <a:ext cx="3931920" cy="54864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0080" y="2377440"/>
            <a:ext cx="182880" cy="18288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30428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</a:defRPr>
            </a:pPr>
            <a:r>
              <a:t>Gráfico de distribuição de erros por categoria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834640"/>
            <a:ext cx="3931920" cy="54864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40080" y="3017520"/>
            <a:ext cx="182880" cy="18288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94436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</a:defRPr>
            </a:pPr>
            <a:r>
              <a:t>Histórico de erros por redação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474720"/>
            <a:ext cx="3931920" cy="54864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0080" y="3657600"/>
            <a:ext cx="182880" cy="18288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58444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</a:defRPr>
            </a:pPr>
            <a:r>
              <a:t>Estatísticas gerais de performance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114800"/>
            <a:ext cx="3931920" cy="54864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4297680"/>
            <a:ext cx="182880" cy="18288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22452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</a:defRPr>
            </a:pPr>
            <a:r>
              <a:t>Tracking de evolução ao longo do tempo</a:t>
            </a:r>
          </a:p>
        </p:txBody>
      </p:sp>
      <p:pic>
        <p:nvPicPr>
          <p:cNvPr id="18" name="Picture 17" descr="Foto resultad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457200"/>
            <a:ext cx="4297680" cy="209581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412480" y="482346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CA3AF"/>
                </a:solidFill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A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2D3EE"/>
                </a:solidFill>
              </a:defRPr>
            </a:pPr>
            <a:r>
              <a:t>PRÁTICA DE CONVERSAÇÃO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4114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Pratique alemão falado com 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3931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CA3AF"/>
                </a:solidFill>
              </a:defRPr>
            </a:pPr>
            <a:r>
              <a:t>Converse em tempo real com personagens de IA em diferentes contextos profissionais e do dia a dia.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194560"/>
            <a:ext cx="3931920" cy="54864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0080" y="2377440"/>
            <a:ext cx="182880" cy="182880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30428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</a:defRPr>
            </a:pPr>
            <a:r>
              <a:t>10 personagens com diferentes profissões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834640"/>
            <a:ext cx="3931920" cy="54864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40080" y="3017520"/>
            <a:ext cx="182880" cy="182880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94436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</a:defRPr>
            </a:pPr>
            <a:r>
              <a:t>Reconhecimento de voz em alemão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474720"/>
            <a:ext cx="3931920" cy="54864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0080" y="3657600"/>
            <a:ext cx="182880" cy="182880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58444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</a:defRPr>
            </a:pPr>
            <a:r>
              <a:t>Análise de erros após a conversa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114800"/>
            <a:ext cx="3931920" cy="54864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4297680"/>
            <a:ext cx="182880" cy="182880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22452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</a:defRPr>
            </a:pPr>
            <a:r>
              <a:t>Prática de escuta e pronúncia</a:t>
            </a:r>
          </a:p>
        </p:txBody>
      </p:sp>
      <p:pic>
        <p:nvPicPr>
          <p:cNvPr id="18" name="Picture 17" descr="screenshot_practice_convers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457200"/>
            <a:ext cx="4297680" cy="18644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412480" y="482346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CA3AF"/>
                </a:solidFill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A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2C55E"/>
                </a:solidFill>
              </a:defRPr>
            </a:pPr>
            <a:r>
              <a:t>LISTAS DE VOCABULÁRIO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4114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Organize e pratique seu vocabulário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3931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CA3AF"/>
                </a:solidFill>
              </a:defRPr>
            </a:pPr>
            <a:r>
              <a:t>Crie listas personalizadas, importe palavras via CSV e classifique por nível de dificuldade.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194560"/>
            <a:ext cx="3931920" cy="54864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0080" y="2377440"/>
            <a:ext cx="182880" cy="182880"/>
          </a:xfrm>
          <a:prstGeom prst="ellipse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30428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</a:defRPr>
            </a:pPr>
            <a:r>
              <a:t>Múltiplas listas organizadas por tema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834640"/>
            <a:ext cx="3931920" cy="54864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40080" y="3017520"/>
            <a:ext cx="182880" cy="182880"/>
          </a:xfrm>
          <a:prstGeom prst="ellipse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94436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</a:defRPr>
            </a:pPr>
            <a:r>
              <a:t>Importação de CSV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474720"/>
            <a:ext cx="3931920" cy="54864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0080" y="3657600"/>
            <a:ext cx="182880" cy="182880"/>
          </a:xfrm>
          <a:prstGeom prst="ellipse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58444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</a:defRPr>
            </a:pPr>
            <a:r>
              <a:t>Classificação por dificuldade (vermelho/amarelo/verde)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114800"/>
            <a:ext cx="3931920" cy="54864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4297680"/>
            <a:ext cx="182880" cy="182880"/>
          </a:xfrm>
          <a:prstGeom prst="ellipse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22452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</a:defRPr>
            </a:pPr>
            <a:r>
              <a:t>Tradução automática para português</a:t>
            </a:r>
          </a:p>
        </p:txBody>
      </p:sp>
      <p:pic>
        <p:nvPicPr>
          <p:cNvPr id="18" name="Picture 17" descr="Lista de vocabular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457200"/>
            <a:ext cx="4297680" cy="208139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412480" y="482346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CA3AF"/>
                </a:solidFill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A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B82F6"/>
                </a:solidFill>
              </a:defRPr>
            </a:pPr>
            <a:r>
              <a:t>JOGOS E FLASHCARDS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4114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Pratique de forma interativa e divertida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3931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CA3AF"/>
                </a:solidFill>
              </a:defRPr>
            </a:pPr>
            <a:r>
              <a:t>Teste seu conhecimento com flashcards interativos e jogos como o jogo da forca alemão.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194560"/>
            <a:ext cx="3931920" cy="54864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0080" y="2377440"/>
            <a:ext cx="182880" cy="18288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30428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</a:defRPr>
            </a:pPr>
            <a:r>
              <a:t>Flashcards automáticos a partir das redações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834640"/>
            <a:ext cx="3931920" cy="54864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40080" y="3017520"/>
            <a:ext cx="182880" cy="18288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94436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</a:defRPr>
            </a:pPr>
            <a:r>
              <a:t>Jogo da forca com dicas inteligentes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474720"/>
            <a:ext cx="3931920" cy="54864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0080" y="3657600"/>
            <a:ext cx="182880" cy="18288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58444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</a:defRPr>
            </a:pPr>
            <a:r>
              <a:t>Filtro por nível de dificuldade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114800"/>
            <a:ext cx="3931920" cy="54864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4297680"/>
            <a:ext cx="182880" cy="18288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22452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</a:defRPr>
            </a:pPr>
            <a:r>
              <a:t>Prática de artigos (der/die/das)</a:t>
            </a:r>
          </a:p>
        </p:txBody>
      </p:sp>
      <p:pic>
        <p:nvPicPr>
          <p:cNvPr id="18" name="Picture 17" descr="screenshot_flashcards_ga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457200"/>
            <a:ext cx="4297680" cy="2852717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412480" y="482346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CA3AF"/>
                </a:solidFill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A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97316"/>
                </a:solidFill>
              </a:defRPr>
            </a:pPr>
            <a:r>
              <a:t>PARAFRASEADOR INTELIGENTE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4114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Reescreva textos em diferentes estilos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3931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CA3AF"/>
                </a:solidFill>
              </a:defRPr>
            </a:pPr>
            <a:r>
              <a:t>Transforme seu texto alemão em diferentes estilos: formal, casual, com emojis, simplificado e mais.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194560"/>
            <a:ext cx="3931920" cy="54864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0080" y="2377440"/>
            <a:ext cx="182880" cy="182880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30428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</a:defRPr>
            </a:pPr>
            <a:r>
              <a:t>6 estilos diferentes de reescrita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834640"/>
            <a:ext cx="3931920" cy="54864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40080" y="3017520"/>
            <a:ext cx="182880" cy="182880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94436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</a:defRPr>
            </a:pPr>
            <a:r>
              <a:t>Mantém o significado original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474720"/>
            <a:ext cx="3931920" cy="54864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0080" y="3657600"/>
            <a:ext cx="182880" cy="182880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58444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</a:defRPr>
            </a:pPr>
            <a:r>
              <a:t>Ideal para aprender sinônimos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114800"/>
            <a:ext cx="3931920" cy="54864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4297680"/>
            <a:ext cx="182880" cy="182880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22452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</a:defRPr>
            </a:pPr>
            <a:r>
              <a:t>Melhore seu vocabulário ativo</a:t>
            </a:r>
          </a:p>
        </p:txBody>
      </p:sp>
      <p:pic>
        <p:nvPicPr>
          <p:cNvPr id="18" name="Picture 17" descr="Parafrase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457200"/>
            <a:ext cx="4297680" cy="211142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412480" y="482346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CA3AF"/>
                </a:solidFill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A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EC4899"/>
                </a:solidFill>
              </a:defRPr>
            </a:pPr>
            <a:r>
              <a:t>CHATBOT DE CONVERSAÇÃO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4114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Pratique escrita com correção em tempo real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3931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CA3AF"/>
                </a:solidFill>
              </a:defRPr>
            </a:pPr>
            <a:r>
              <a:t>Converse por escrito com o chatbot e receba correções instantâneas de cada frase que você escreve.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194560"/>
            <a:ext cx="3931920" cy="54864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0080" y="2377440"/>
            <a:ext cx="182880" cy="18288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30428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</a:defRPr>
            </a:pPr>
            <a:r>
              <a:t>Correção imediata de cada frase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834640"/>
            <a:ext cx="3931920" cy="54864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40080" y="3017520"/>
            <a:ext cx="182880" cy="18288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94436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</a:defRPr>
            </a:pPr>
            <a:r>
              <a:t>Feedback detalhado sobre erros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474720"/>
            <a:ext cx="3931920" cy="54864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0080" y="3657600"/>
            <a:ext cx="182880" cy="18288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58444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</a:defRPr>
            </a:pPr>
            <a:r>
              <a:t>Prática de escrita contextualizada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114800"/>
            <a:ext cx="3931920" cy="54864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4297680"/>
            <a:ext cx="182880" cy="18288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22452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</a:defRPr>
            </a:pPr>
            <a:r>
              <a:t>Apenas 2,5 créditos por frase</a:t>
            </a:r>
          </a:p>
        </p:txBody>
      </p:sp>
      <p:pic>
        <p:nvPicPr>
          <p:cNvPr id="18" name="Picture 17" descr="Screenshot_chatbot_correcaoconvers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6420" y="457200"/>
            <a:ext cx="2148840" cy="267694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412480" y="482346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CA3AF"/>
                </a:solidFill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A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A855F7"/>
                </a:solidFill>
              </a:defRPr>
            </a:pPr>
            <a:r>
              <a:t>CHATBOT DE GRAMÁTICA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4114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Tire suas dúvidas de gramática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3931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CA3AF"/>
                </a:solidFill>
              </a:defRPr>
            </a:pPr>
            <a:r>
              <a:t>Pergunte qualquer dúvida sobre gramática alemã e receba explicações detalhadas e exemplos práticos.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194560"/>
            <a:ext cx="3931920" cy="54864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0080" y="2377440"/>
            <a:ext cx="182880" cy="18288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30428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</a:defRPr>
            </a:pPr>
            <a:r>
              <a:t>Explicações em português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834640"/>
            <a:ext cx="3931920" cy="54864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40080" y="3017520"/>
            <a:ext cx="182880" cy="18288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94436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</a:defRPr>
            </a:pPr>
            <a:r>
              <a:t>Exemplos práticos de uso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474720"/>
            <a:ext cx="3931920" cy="54864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0080" y="3657600"/>
            <a:ext cx="182880" cy="18288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58444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</a:defRPr>
            </a:pPr>
            <a:r>
              <a:t>Mais de 60 tópicos gramaticais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114800"/>
            <a:ext cx="3931920" cy="54864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4297680"/>
            <a:ext cx="182880" cy="18288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22452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</a:defRPr>
            </a:pPr>
            <a:r>
              <a:t>5 créditos por tópico explicado</a:t>
            </a:r>
          </a:p>
        </p:txBody>
      </p:sp>
      <p:pic>
        <p:nvPicPr>
          <p:cNvPr id="18" name="Picture 17" descr="Screenshot_chatbot_explicacaogramat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6420" y="457200"/>
            <a:ext cx="2148840" cy="271819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412480" y="482346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CA3AF"/>
                </a:solidFill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A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Como Funciona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A855F7"/>
                </a:solidFill>
              </a:defRPr>
            </a:pPr>
            <a:r>
              <a:t>Comece a aprender em 3 passos simples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63040"/>
            <a:ext cx="2651760" cy="2926080"/>
          </a:xfrm>
          <a:prstGeom prst="roundRect">
            <a:avLst/>
          </a:prstGeom>
          <a:solidFill>
            <a:srgbClr val="251C45"/>
          </a:solidFill>
          <a:ln w="2540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417320" y="1737360"/>
            <a:ext cx="822960" cy="82296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17320" y="1828800"/>
            <a:ext cx="8229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974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Escreva seu texto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00400"/>
            <a:ext cx="2377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9CA3AF"/>
                </a:solidFill>
              </a:defRPr>
            </a:pPr>
            <a:r>
              <a:t>Cole ou digite sua redação em alemão. Nosso editor inteligente aceita qualquer texto.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1463040"/>
            <a:ext cx="2651760" cy="2926080"/>
          </a:xfrm>
          <a:prstGeom prst="roundRect">
            <a:avLst/>
          </a:prstGeom>
          <a:solidFill>
            <a:srgbClr val="251C45"/>
          </a:solidFill>
          <a:ln w="2540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297680" y="1737360"/>
            <a:ext cx="822960" cy="82296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97680" y="1828800"/>
            <a:ext cx="8229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40" y="26974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Receba a análise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3200400"/>
            <a:ext cx="2377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9CA3AF"/>
                </a:solidFill>
              </a:defRPr>
            </a:pPr>
            <a:r>
              <a:t>Nossa IA identifica erros, categoriza por tipo e explica cada correção em português.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1463040"/>
            <a:ext cx="2651760" cy="2926080"/>
          </a:xfrm>
          <a:prstGeom prst="roundRect">
            <a:avLst/>
          </a:prstGeom>
          <a:solidFill>
            <a:srgbClr val="251C45"/>
          </a:solidFill>
          <a:ln w="254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178040" y="1737360"/>
            <a:ext cx="822960" cy="822960"/>
          </a:xfrm>
          <a:prstGeom prst="ellipse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78040" y="1828800"/>
            <a:ext cx="8229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6974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Acompanhe sua evolução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3200400"/>
            <a:ext cx="2377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9CA3AF"/>
                </a:solidFill>
              </a:defRPr>
            </a:pPr>
            <a:r>
              <a:t>Visualize seu progresso no dashboard, pratique com flashcards e melhore continuamente.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08960" y="2834640"/>
            <a:ext cx="274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A855F7"/>
                </a:solidFill>
              </a:defRPr>
            </a:pPr>
            <a:r>
              <a:t>&gt;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89320" y="2834640"/>
            <a:ext cx="274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A855F7"/>
                </a:solidFill>
              </a:defRPr>
            </a:pPr>
            <a:r>
              <a:t>&gt;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482346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CA3AF"/>
                </a:solidFill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A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Análise de Custo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9CA3AF"/>
                </a:solidFill>
              </a:defRPr>
            </a:pPr>
            <a:r>
              <a:t>Investimento acessível para um aprendizado de qualidade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4114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22D3EE"/>
                </a:solidFill>
              </a:defRPr>
            </a:pPr>
            <a:r>
              <a:t>Sistema de Créditos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1828800"/>
            <a:ext cx="137160" cy="137160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3736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</a:defRPr>
            </a:pPr>
            <a:r>
              <a:t>100 créditos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173736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9CA3AF"/>
                </a:solidFill>
              </a:defRPr>
            </a:pPr>
            <a:r>
              <a:t>Grátis para novos usuários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2240280"/>
            <a:ext cx="137160" cy="137160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14884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</a:defRPr>
            </a:pPr>
            <a:r>
              <a:t>Correção de texto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214884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9CA3AF"/>
                </a:solidFill>
              </a:defRPr>
            </a:pPr>
            <a:r>
              <a:t>~20 créditos por correção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2651760"/>
            <a:ext cx="137160" cy="137160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56032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</a:defRPr>
            </a:pPr>
            <a:r>
              <a:t>Paráfrase de texto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0" y="256032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9CA3AF"/>
                </a:solidFill>
              </a:defRPr>
            </a:pPr>
            <a:r>
              <a:t>~5 créditos por uso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" y="3063240"/>
            <a:ext cx="137160" cy="137160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297180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</a:defRPr>
            </a:pPr>
            <a:r>
              <a:t>Chatbot conversação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0" y="297180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9CA3AF"/>
                </a:solidFill>
              </a:defRPr>
            </a:pPr>
            <a:r>
              <a:t>2,5 créditos por frase</a:t>
            </a:r>
          </a:p>
        </p:txBody>
      </p:sp>
      <p:sp>
        <p:nvSpPr>
          <p:cNvPr id="18" name="Oval 17"/>
          <p:cNvSpPr/>
          <p:nvPr/>
        </p:nvSpPr>
        <p:spPr>
          <a:xfrm>
            <a:off x="640080" y="3474720"/>
            <a:ext cx="137160" cy="137160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338328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</a:defRPr>
            </a:pPr>
            <a:r>
              <a:t>Chatbot gramática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0" y="338328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9CA3AF"/>
                </a:solidFill>
              </a:defRPr>
            </a:pPr>
            <a:r>
              <a:t>5 créditos por tópico</a:t>
            </a:r>
          </a:p>
        </p:txBody>
      </p:sp>
      <p:sp>
        <p:nvSpPr>
          <p:cNvPr id="21" name="Oval 20"/>
          <p:cNvSpPr/>
          <p:nvPr/>
        </p:nvSpPr>
        <p:spPr>
          <a:xfrm>
            <a:off x="640080" y="3886200"/>
            <a:ext cx="137160" cy="137160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379476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</a:defRPr>
            </a:pPr>
            <a:r>
              <a:t>Flashcards e jogos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0" y="379476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9CA3AF"/>
                </a:solidFill>
              </a:defRPr>
            </a:pPr>
            <a:r>
              <a:t>Gratuito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46320" y="1280160"/>
            <a:ext cx="3840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97316"/>
                </a:solidFill>
              </a:defRPr>
            </a:pPr>
            <a:r>
              <a:t>Comparado com Alternativas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846320" y="1737360"/>
            <a:ext cx="3840480" cy="50292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0" y="1828800"/>
            <a:ext cx="2103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Professor particular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32320" y="182880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EF4444"/>
                </a:solidFill>
              </a:defRPr>
            </a:pPr>
            <a:r>
              <a:t>R$ 80-150/hora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846320" y="2331720"/>
            <a:ext cx="3840480" cy="50292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0" y="2423160"/>
            <a:ext cx="2103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Curso presencial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32320" y="242316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EF4444"/>
                </a:solidFill>
              </a:defRPr>
            </a:pPr>
            <a:r>
              <a:t>R$ 300-800/mês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846320" y="2926080"/>
            <a:ext cx="3840480" cy="50292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0" y="3017520"/>
            <a:ext cx="2103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Apps premium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32320" y="301752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EAB308"/>
                </a:solidFill>
              </a:defRPr>
            </a:pPr>
            <a:r>
              <a:t>R$ 50-100/mês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846320" y="3520440"/>
            <a:ext cx="3840480" cy="50292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29200" y="3611880"/>
            <a:ext cx="2103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CorrectMe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32320" y="361188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22C55E"/>
                </a:solidFill>
              </a:defRPr>
            </a:pPr>
            <a:r>
              <a:t>A partir de R$ 0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160520"/>
            <a:ext cx="8229600" cy="640080"/>
          </a:xfrm>
          <a:prstGeom prst="roundRect">
            <a:avLst/>
          </a:prstGeom>
          <a:solidFill>
            <a:srgbClr val="251C45"/>
          </a:solidFill>
          <a:ln w="254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29768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22C55E"/>
                </a:solidFill>
              </a:defRPr>
            </a:pPr>
            <a:r>
              <a:t>Comece grátis com 100 créditos - Sem cartão de crédito necessário!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12480" y="482346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CA3AF"/>
                </a:solidFill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A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Por que escolher o CorrectMe?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731520"/>
            <a:ext cx="8229600" cy="45720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2560320" cy="457200"/>
          </a:xfrm>
          <a:prstGeom prst="rect">
            <a:avLst/>
          </a:prstGeom>
          <a:noFill/>
        </p:spPr>
        <p:txBody>
          <a:bodyPr wrap="none" lIns="137160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</a:defRPr>
            </a:pPr>
            <a:r>
              <a:t>Recurso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17520" y="82296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A855F7"/>
                </a:solidFill>
              </a:defRPr>
            </a:pPr>
            <a:r>
              <a:t>CorrectMe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46320" y="822960"/>
            <a:ext cx="2011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LanguageTool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82296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Scribbr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188720"/>
            <a:ext cx="8229600" cy="457200"/>
          </a:xfrm>
          <a:prstGeom prst="rect">
            <a:avLst/>
          </a:prstGeom>
          <a:solidFill>
            <a:srgbClr val="1912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280160"/>
            <a:ext cx="2560320" cy="457200"/>
          </a:xfrm>
          <a:prstGeom prst="rect">
            <a:avLst/>
          </a:prstGeom>
          <a:noFill/>
        </p:spPr>
        <p:txBody>
          <a:bodyPr wrap="none" lIns="137160">
            <a:spAutoFit/>
          </a:bodyPr>
          <a:lstStyle/>
          <a:p>
            <a:pPr algn="l">
              <a:defRPr sz="1100">
                <a:solidFill>
                  <a:srgbClr val="9CA3AF"/>
                </a:solidFill>
              </a:defRPr>
            </a:pPr>
            <a:r>
              <a:t>Especializado em alemão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128016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22C55E"/>
                </a:solidFill>
              </a:defRPr>
            </a:pPr>
            <a:r>
              <a:t>100%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1280160"/>
            <a:ext cx="2011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EAB308"/>
                </a:solidFill>
              </a:defRPr>
            </a:pPr>
            <a:r>
              <a:t>Parcial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128016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EAB308"/>
                </a:solidFill>
              </a:defRPr>
            </a:pPr>
            <a:r>
              <a:t>Parcial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737360"/>
            <a:ext cx="2560320" cy="457200"/>
          </a:xfrm>
          <a:prstGeom prst="rect">
            <a:avLst/>
          </a:prstGeom>
          <a:noFill/>
        </p:spPr>
        <p:txBody>
          <a:bodyPr wrap="none" lIns="137160">
            <a:spAutoFit/>
          </a:bodyPr>
          <a:lstStyle/>
          <a:p>
            <a:pPr algn="l">
              <a:defRPr sz="1100">
                <a:solidFill>
                  <a:srgbClr val="9CA3AF"/>
                </a:solidFill>
              </a:defRPr>
            </a:pPr>
            <a:r>
              <a:t>Feedback pedagógico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7520" y="173736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22C55E"/>
                </a:solidFill>
              </a:defRPr>
            </a:pPr>
            <a:r>
              <a:t>Sim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0" y="1737360"/>
            <a:ext cx="2011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EF4444"/>
                </a:solidFill>
              </a:defRPr>
            </a:pPr>
            <a:r>
              <a:t>Não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173736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EAB308"/>
                </a:solidFill>
              </a:defRPr>
            </a:pPr>
            <a:r>
              <a:t>Limitado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103120"/>
            <a:ext cx="8229600" cy="457200"/>
          </a:xfrm>
          <a:prstGeom prst="rect">
            <a:avLst/>
          </a:prstGeom>
          <a:solidFill>
            <a:srgbClr val="1912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94560"/>
            <a:ext cx="2560320" cy="457200"/>
          </a:xfrm>
          <a:prstGeom prst="rect">
            <a:avLst/>
          </a:prstGeom>
          <a:noFill/>
        </p:spPr>
        <p:txBody>
          <a:bodyPr wrap="none" lIns="137160">
            <a:spAutoFit/>
          </a:bodyPr>
          <a:lstStyle/>
          <a:p>
            <a:pPr algn="l">
              <a:defRPr sz="1100">
                <a:solidFill>
                  <a:srgbClr val="9CA3AF"/>
                </a:solidFill>
              </a:defRPr>
            </a:pPr>
            <a:r>
              <a:t>Categorização de erros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17520" y="219456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22C55E"/>
                </a:solidFill>
              </a:defRPr>
            </a:pPr>
            <a:r>
              <a:t>Sim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46320" y="2194560"/>
            <a:ext cx="2011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EF4444"/>
                </a:solidFill>
              </a:defRPr>
            </a:pPr>
            <a:r>
              <a:t>Não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0" y="219456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EF4444"/>
                </a:solidFill>
              </a:defRPr>
            </a:pPr>
            <a:r>
              <a:t>Não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2651760"/>
            <a:ext cx="2560320" cy="457200"/>
          </a:xfrm>
          <a:prstGeom prst="rect">
            <a:avLst/>
          </a:prstGeom>
          <a:noFill/>
        </p:spPr>
        <p:txBody>
          <a:bodyPr wrap="none" lIns="137160">
            <a:spAutoFit/>
          </a:bodyPr>
          <a:lstStyle/>
          <a:p>
            <a:pPr algn="l">
              <a:defRPr sz="1100">
                <a:solidFill>
                  <a:srgbClr val="9CA3AF"/>
                </a:solidFill>
              </a:defRPr>
            </a:pPr>
            <a:r>
              <a:t>Flashcards integrados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17520" y="265176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22C55E"/>
                </a:solidFill>
              </a:defRPr>
            </a:pPr>
            <a:r>
              <a:t>Sim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46320" y="2651760"/>
            <a:ext cx="2011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EF4444"/>
                </a:solidFill>
              </a:defRPr>
            </a:pPr>
            <a:r>
              <a:t>Não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0" y="265176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EF4444"/>
                </a:solidFill>
              </a:defRPr>
            </a:pPr>
            <a:r>
              <a:t>Não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3017520"/>
            <a:ext cx="8229600" cy="457200"/>
          </a:xfrm>
          <a:prstGeom prst="rect">
            <a:avLst/>
          </a:prstGeom>
          <a:solidFill>
            <a:srgbClr val="1912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3108960"/>
            <a:ext cx="2560320" cy="457200"/>
          </a:xfrm>
          <a:prstGeom prst="rect">
            <a:avLst/>
          </a:prstGeom>
          <a:noFill/>
        </p:spPr>
        <p:txBody>
          <a:bodyPr wrap="none" lIns="137160">
            <a:spAutoFit/>
          </a:bodyPr>
          <a:lstStyle/>
          <a:p>
            <a:pPr algn="l">
              <a:defRPr sz="1100">
                <a:solidFill>
                  <a:srgbClr val="9CA3AF"/>
                </a:solidFill>
              </a:defRPr>
            </a:pPr>
            <a:r>
              <a:t>Listas de vocabulário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017520" y="310896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22C55E"/>
                </a:solidFill>
              </a:defRPr>
            </a:pPr>
            <a:r>
              <a:t>Sim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46320" y="3108960"/>
            <a:ext cx="2011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EF4444"/>
                </a:solidFill>
              </a:defRPr>
            </a:pPr>
            <a:r>
              <a:t>Não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0" y="310896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EF4444"/>
                </a:solidFill>
              </a:defRPr>
            </a:pPr>
            <a:r>
              <a:t>Não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566160"/>
            <a:ext cx="2560320" cy="457200"/>
          </a:xfrm>
          <a:prstGeom prst="rect">
            <a:avLst/>
          </a:prstGeom>
          <a:noFill/>
        </p:spPr>
        <p:txBody>
          <a:bodyPr wrap="none" lIns="137160">
            <a:spAutoFit/>
          </a:bodyPr>
          <a:lstStyle/>
          <a:p>
            <a:pPr algn="l">
              <a:defRPr sz="1100">
                <a:solidFill>
                  <a:srgbClr val="9CA3AF"/>
                </a:solidFill>
              </a:defRPr>
            </a:pPr>
            <a:r>
              <a:t>Chatbot para prática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17520" y="356616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22C55E"/>
                </a:solidFill>
              </a:defRPr>
            </a:pPr>
            <a:r>
              <a:t>Sim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46320" y="3566160"/>
            <a:ext cx="2011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EF4444"/>
                </a:solidFill>
              </a:defRPr>
            </a:pPr>
            <a:r>
              <a:t>Não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0" y="356616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EF4444"/>
                </a:solidFill>
              </a:defRPr>
            </a:pPr>
            <a:r>
              <a:t>Não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3931920"/>
            <a:ext cx="8229600" cy="457200"/>
          </a:xfrm>
          <a:prstGeom prst="rect">
            <a:avLst/>
          </a:prstGeom>
          <a:solidFill>
            <a:srgbClr val="1912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" y="4023360"/>
            <a:ext cx="2560320" cy="457200"/>
          </a:xfrm>
          <a:prstGeom prst="rect">
            <a:avLst/>
          </a:prstGeom>
          <a:noFill/>
        </p:spPr>
        <p:txBody>
          <a:bodyPr wrap="none" lIns="137160">
            <a:spAutoFit/>
          </a:bodyPr>
          <a:lstStyle/>
          <a:p>
            <a:pPr algn="l">
              <a:defRPr sz="1100">
                <a:solidFill>
                  <a:srgbClr val="9CA3AF"/>
                </a:solidFill>
              </a:defRPr>
            </a:pPr>
            <a:r>
              <a:t>Prática de conversação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017520" y="402336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22C55E"/>
                </a:solidFill>
              </a:defRPr>
            </a:pPr>
            <a:r>
              <a:t>Sim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46320" y="4023360"/>
            <a:ext cx="2011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EF4444"/>
                </a:solidFill>
              </a:defRPr>
            </a:pPr>
            <a:r>
              <a:t>Não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58000" y="402336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EF4444"/>
                </a:solidFill>
              </a:defRPr>
            </a:pPr>
            <a:r>
              <a:t>Não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12480" y="482346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CA3AF"/>
                </a:solidFill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A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Ideal Para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188720"/>
            <a:ext cx="3840480" cy="1280160"/>
          </a:xfrm>
          <a:prstGeom prst="roundRect">
            <a:avLst/>
          </a:prstGeom>
          <a:solidFill>
            <a:srgbClr val="251C45"/>
          </a:solidFill>
          <a:ln w="2540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1463040"/>
            <a:ext cx="640080" cy="64008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3040" y="1417320"/>
            <a:ext cx="2651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EC4899"/>
                </a:solidFill>
              </a:defRPr>
            </a:pPr>
            <a:r>
              <a:t>Estudantes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182880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9CA3AF"/>
                </a:solidFill>
              </a:defRPr>
            </a:pPr>
            <a:r>
              <a:t>Preparando para provas Goethe, TestDaF, DSH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846320" y="1188720"/>
            <a:ext cx="3840480" cy="1280160"/>
          </a:xfrm>
          <a:prstGeom prst="roundRect">
            <a:avLst/>
          </a:prstGeom>
          <a:solidFill>
            <a:srgbClr val="251C45"/>
          </a:solidFill>
          <a:ln w="2540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029200" y="1463040"/>
            <a:ext cx="640080" cy="64008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0" y="1417320"/>
            <a:ext cx="2651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A855F7"/>
                </a:solidFill>
              </a:defRPr>
            </a:pPr>
            <a:r>
              <a:t>Profissionais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182880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9CA3AF"/>
                </a:solidFill>
              </a:defRPr>
            </a:pPr>
            <a:r>
              <a:t>Que precisam escrever em alemão no trabalho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697480"/>
            <a:ext cx="3840480" cy="1280160"/>
          </a:xfrm>
          <a:prstGeom prst="roundRect">
            <a:avLst/>
          </a:prstGeom>
          <a:solidFill>
            <a:srgbClr val="251C45"/>
          </a:solidFill>
          <a:ln w="254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0080" y="2971800"/>
            <a:ext cx="640080" cy="64008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63040" y="2926080"/>
            <a:ext cx="2651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3B82F6"/>
                </a:solidFill>
              </a:defRPr>
            </a:pPr>
            <a:r>
              <a:t>Professores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333756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9CA3AF"/>
                </a:solidFill>
              </a:defRPr>
            </a:pPr>
            <a:r>
              <a:t>Que querem otimizar correções de alunos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846320" y="2697480"/>
            <a:ext cx="3840480" cy="1280160"/>
          </a:xfrm>
          <a:prstGeom prst="roundRect">
            <a:avLst/>
          </a:prstGeom>
          <a:solidFill>
            <a:srgbClr val="251C45"/>
          </a:solidFill>
          <a:ln w="254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029200" y="2971800"/>
            <a:ext cx="640080" cy="640080"/>
          </a:xfrm>
          <a:prstGeom prst="ellipse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52160" y="2926080"/>
            <a:ext cx="2651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22C55E"/>
                </a:solidFill>
              </a:defRPr>
            </a:pPr>
            <a:r>
              <a:t>Aprendizes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52160" y="333756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9CA3AF"/>
                </a:solidFill>
              </a:defRPr>
            </a:pPr>
            <a:r>
              <a:t>De qualquer nível, do iniciante ao avançado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482346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CA3AF"/>
                </a:solidFill>
              </a:defRPr>
            </a:pPr>
            <a: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A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brancofundoTransparentev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0" y="457200"/>
            <a:ext cx="2133600" cy="12801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192024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Comece a dominar o alemão hoje!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A855F7"/>
                </a:solidFill>
              </a:defRPr>
            </a:pPr>
            <a:r>
              <a:t>Experimente grátis - 100 créditos para novos usuários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86000" y="3383280"/>
            <a:ext cx="4572000" cy="731520"/>
          </a:xfrm>
          <a:prstGeom prst="roundRect">
            <a:avLst/>
          </a:prstGeom>
          <a:solidFill>
            <a:srgbClr val="251C45"/>
          </a:solidFill>
          <a:ln w="2540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86000" y="352044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EC4899"/>
                </a:solidFill>
              </a:defRPr>
            </a:pPr>
            <a:r>
              <a:t>correctme.com.br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22D3EE"/>
                </a:solidFill>
              </a:defRPr>
            </a:pPr>
            <a:r>
              <a:t>Dr. Thiago R. S. Pastro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482346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CA3AF"/>
                </a:solidFill>
              </a:defRPr>
            </a:pPr>
            <a:r>
              <a:t>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
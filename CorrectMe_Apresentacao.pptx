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900000">
            <a:off x="5943600" y="0"/>
            <a:ext cx="73152" cy="51435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brancofundoTransparente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5760"/>
            <a:ext cx="1981200" cy="1188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8288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400" b="1">
                <a:solidFill>
                  <a:srgbClr val="FFFFFF"/>
                </a:solidFill>
              </a:defRPr>
            </a:pPr>
            <a:r>
              <a:t>CorrectMe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>
                <a:solidFill>
                  <a:srgbClr val="A855F7"/>
                </a:solidFill>
              </a:defRPr>
            </a:pPr>
            <a:r>
              <a:t>Aprendizagem de Alemão com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Plataforma completa de aprendizado de alemão com inteligência artificial para brasileiros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9768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2D3EE"/>
                </a:solidFill>
              </a:defRPr>
            </a:pPr>
            <a:r>
              <a:t>Dr. Thiago R. S. Pastro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731520"/>
            <a:ext cx="2560320" cy="118872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9144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EC4899"/>
                </a:solidFill>
              </a:defRPr>
            </a:pPr>
            <a:r>
              <a:t>Correção de Textos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2801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IA corrige erros gramaticais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03120"/>
            <a:ext cx="2560320" cy="118872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2860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Prática de Conversação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6517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Fale com personagens 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474720"/>
            <a:ext cx="2560320" cy="118872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57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2C55E"/>
                </a:solidFill>
              </a:defRPr>
            </a:pPr>
            <a:r>
              <a:t>Jogos e Flashcards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02336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Aprenda se divertindo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Índice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0" y="914400"/>
            <a:ext cx="2743200" cy="274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128016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C4899"/>
                </a:solidFill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13716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28016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Vantagens do CorrectMe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78308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A855F7"/>
                </a:solidFill>
              </a:defRPr>
            </a:pPr>
            <a: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87452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178308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Sistema de Categorização de Erros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28600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2D3EE"/>
                </a:solidFill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3774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228600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Recursos da Plataforma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78892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2C55E"/>
                </a:solidFill>
              </a:defRPr>
            </a:pPr>
            <a: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88036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78892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Como Funciona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29184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97316"/>
                </a:solidFill>
              </a:defRPr>
            </a:pPr>
            <a: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3832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329184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Análise de Custo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79476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3B82F6"/>
                </a:solidFill>
              </a:defRPr>
            </a:pPr>
            <a: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388620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379476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Comparativo com Concorrentes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297680"/>
            <a:ext cx="548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C4899"/>
                </a:solidFill>
              </a:defRPr>
            </a:pPr>
            <a: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438912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429768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Público Alvo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Vantagens do CorrectMe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CA3AF"/>
                </a:solidFill>
              </a:defRPr>
            </a:pPr>
            <a:r>
              <a:t>Por que o CorrectMe é a melhor escolha para aprender alemão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80160"/>
            <a:ext cx="19659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508760"/>
            <a:ext cx="777240" cy="7772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00200"/>
            <a:ext cx="777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+60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2316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Tópicos de Gramática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Cobertura completa de todos os tópicos gramaticais do alemão, do básico ao avançado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60320" y="1280160"/>
            <a:ext cx="19659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54680" y="1508760"/>
            <a:ext cx="777240" cy="7772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54680" y="1600200"/>
            <a:ext cx="777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+50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42316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Temas de Conversa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971800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Prática com diferentes personagens e contextos do cotidiano alemão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09160" y="1280160"/>
            <a:ext cx="19659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03520" y="1508760"/>
            <a:ext cx="777240" cy="7772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0" y="1600200"/>
            <a:ext cx="777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242316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Categorias de Erros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2971800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Classificação inteligente que ajuda a focar nos seus pontos fracos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0" y="1280160"/>
            <a:ext cx="19659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52360" y="1508760"/>
            <a:ext cx="777240" cy="77724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60" y="1600200"/>
            <a:ext cx="777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24/7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2423160"/>
            <a:ext cx="1783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Disponível Sempre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971800"/>
            <a:ext cx="1783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9CA3AF"/>
                </a:solidFill>
              </a:defRPr>
            </a:pPr>
            <a:r>
              <a:t>Acesso ilimitado à plataforma, estude quando e onde quiser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</a:defRPr>
            </a:pPr>
            <a:r>
              <a:t>Entenda Exatamente Onde Você Erra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9CA3AF"/>
                </a:solidFill>
              </a:defRPr>
            </a:pPr>
            <a:r>
              <a:t>Nosso sistema exclusivo de categorização identifica e classifica cada erro por cor, </a:t>
            </a:r>
            <a:br/>
            <a:r>
              <a:t>permitindo que você foque exatamente nos pontos que precisa melhorar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7680960" cy="59436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554480"/>
            <a:ext cx="109728" cy="59436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" y="1691640"/>
            <a:ext cx="320040" cy="32004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16002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Declinação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8745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Genus, Numerus, Kasus - Os 3 pilares da gramática alemã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6916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8C8D2"/>
                </a:solidFill>
              </a:defRPr>
            </a:pPr>
            <a:r>
              <a:t>Domine os casos e nunca mais erre der/die/das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240280"/>
            <a:ext cx="7680960" cy="59436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240280"/>
            <a:ext cx="109728" cy="59436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377440"/>
            <a:ext cx="320040" cy="32004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22860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Conjugação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5603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Tempos verbais e formas conjugadas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23774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8C8D2"/>
                </a:solidFill>
              </a:defRPr>
            </a:pPr>
            <a:r>
              <a:t>Aprenda a conjugar verbos corretamente em qualquer tempo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926080"/>
            <a:ext cx="7680960" cy="59436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2926080"/>
            <a:ext cx="109728" cy="5943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05840" y="3063240"/>
            <a:ext cx="320040" cy="32004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29718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Preposições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32461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Uso correto com Akkusativ, Dativ e Genitiv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30632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8C8D2"/>
                </a:solidFill>
              </a:defRPr>
            </a:pPr>
            <a:r>
              <a:t>Saiba qual preposição usar e com qual caso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611880"/>
            <a:ext cx="7680960" cy="59436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3611880"/>
            <a:ext cx="109728" cy="5943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3749040"/>
            <a:ext cx="320040" cy="32004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63040" y="36576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Sintaxe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39319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Estrutura e ordem das palavras nas frases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0" y="37490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8C8D2"/>
                </a:solidFill>
              </a:defRPr>
            </a:pPr>
            <a:r>
              <a:t>Construa frases com a ordem correta do alemão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4297680"/>
            <a:ext cx="7680960" cy="59436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4297680"/>
            <a:ext cx="109728" cy="59436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05840" y="4434840"/>
            <a:ext cx="320040" cy="32004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63040" y="43434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Vocabulário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6177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CA3AF"/>
                </a:solidFill>
              </a:defRPr>
            </a:pPr>
            <a:r>
              <a:t>Escolha de palavras e expressões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31920" y="44348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C8C8D2"/>
                </a:solidFill>
              </a:defRPr>
            </a:pPr>
            <a:r>
              <a:t>Use as palavras certas para cada contexto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C4899"/>
                </a:solidFill>
              </a:defRPr>
            </a:pPr>
            <a:r>
              <a:t>CORREÇÃO INTELIGENTE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Feedback detalhado para cada erro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Nossa IA identifica erros de declinação, conjugação, sintaxe, preposições e vocabulário, destacando cada um com cores diferentes para facilitar o aprendizado.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Correção gramatical e ortográfica em tempo real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Feedback pedagógico que explica o 'porquê' de cada erro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IA treinada para erros comuns de brasileiros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Exportação do texto corrigido</a:t>
            </a:r>
          </a:p>
        </p:txBody>
      </p:sp>
      <p:pic>
        <p:nvPicPr>
          <p:cNvPr id="18" name="Picture 17" descr="Foto 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7200"/>
            <a:ext cx="4297680" cy="207771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855F7"/>
                </a:solidFill>
              </a:defRPr>
            </a:pPr>
            <a:r>
              <a:t>ACOMPANHE SEU PROGRESSO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Visualize sua evolução em tempo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Dashboard completo com gráficos e estatísticas detalhadas para acompanhar seu desenvolvimento no alemão.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Gráfico de distribuição de erros por categoria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Histórico de erros por redação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Estatísticas gerais de performance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Tracking de evolução ao longo do tempo</a:t>
            </a:r>
          </a:p>
        </p:txBody>
      </p:sp>
      <p:pic>
        <p:nvPicPr>
          <p:cNvPr id="18" name="Picture 17" descr="Foto result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7200"/>
            <a:ext cx="4297680" cy="209581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D3EE"/>
                </a:solidFill>
              </a:defRPr>
            </a:pPr>
            <a:r>
              <a:t>PRÁTICA DE CONVERSAÇÃO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Pratique alemão falado com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Converse em tempo real com personagens de IA em diferentes contextos profissionais e do dia a dia.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10 personagens com diferentes profissões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Reconhecimento de voz em alemão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Análise de erros após a conversa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Prática de escuta e pronúncia</a:t>
            </a:r>
          </a:p>
        </p:txBody>
      </p:sp>
      <p:pic>
        <p:nvPicPr>
          <p:cNvPr id="18" name="Picture 17" descr="screenshot_practice_convers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7200"/>
            <a:ext cx="4297680" cy="18644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C55E"/>
                </a:solidFill>
              </a:defRPr>
            </a:pPr>
            <a:r>
              <a:t>LISTAS DE VOCABULÁRIO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Organize e pratique seu vocabulário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Crie listas personalizadas, importe palavras via CSV e classifique por nível de dificuldade.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Múltiplas listas organizadas por tema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Importação de CSV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Classificação por dificuldade (vermelho/amarelo/verde)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Tradução automática para português</a:t>
            </a:r>
          </a:p>
        </p:txBody>
      </p:sp>
      <p:pic>
        <p:nvPicPr>
          <p:cNvPr id="18" name="Picture 17" descr="Lista de vocabu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7200"/>
            <a:ext cx="4297680" cy="208139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t>JOGOS E FLASHCARDS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Pratique de forma interativa e divertida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Teste seu conhecimento com flashcards interativos e jogos como o jogo da forca alemão.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Flashcards automáticos a partir das redações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Jogo da forca com dicas inteligentes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Filtro por nível de dificuldade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Prática de artigos (der/die/das)</a:t>
            </a:r>
          </a:p>
        </p:txBody>
      </p:sp>
      <p:pic>
        <p:nvPicPr>
          <p:cNvPr id="18" name="Picture 17" descr="screenshot_flashcards_g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7200"/>
            <a:ext cx="4297680" cy="285271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97316"/>
                </a:solidFill>
              </a:defRPr>
            </a:pPr>
            <a:r>
              <a:t>PARAFRASEADOR INTELIGENTE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Reescreva textos em diferentes estilos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Transforme seu texto alemão em diferentes estilos: formal, casual, com emojis, simplificado e mais.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9456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77440"/>
            <a:ext cx="182880" cy="1828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0428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6 estilos diferentes de reescrita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83464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0080" y="3017520"/>
            <a:ext cx="182880" cy="1828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94436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Mantém o significado original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472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657600"/>
            <a:ext cx="182880" cy="1828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5844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Ideal para aprender sinônimos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14800"/>
            <a:ext cx="3931920" cy="54864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4297680"/>
            <a:ext cx="182880" cy="1828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2452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</a:defRPr>
            </a:pPr>
            <a:r>
              <a:t>Melhore seu vocabulário ativo</a:t>
            </a:r>
          </a:p>
        </p:txBody>
      </p:sp>
      <p:pic>
        <p:nvPicPr>
          <p:cNvPr id="18" name="Picture 17" descr="screenshot_paraphrase_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457200"/>
            <a:ext cx="4297680" cy="4161159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Como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A855F7"/>
                </a:solidFill>
              </a:defRPr>
            </a:pPr>
            <a:r>
              <a:t>Comece a aprender em 3 passos simples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26517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417320" y="1737360"/>
            <a:ext cx="822960" cy="82296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1828800"/>
            <a:ext cx="822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Escreva seu texto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9CA3AF"/>
                </a:solidFill>
              </a:defRPr>
            </a:pPr>
            <a:r>
              <a:t>Cole ou digite sua redação em alemão. Nosso editor inteligente aceita qualquer texto.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463040"/>
            <a:ext cx="26517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97680" y="1737360"/>
            <a:ext cx="822960" cy="82296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1828800"/>
            <a:ext cx="822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697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Receba a análise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20040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9CA3AF"/>
                </a:solidFill>
              </a:defRPr>
            </a:pPr>
            <a:r>
              <a:t>Nossa IA identifica erros, categoriza por tipo e explica cada correção em português.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63040"/>
            <a:ext cx="2651760" cy="2926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78040" y="1737360"/>
            <a:ext cx="822960" cy="82296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1828800"/>
            <a:ext cx="822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697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Acompanhe sua evolução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20040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9CA3AF"/>
                </a:solidFill>
              </a:defRPr>
            </a:pPr>
            <a:r>
              <a:t>Visualize seu progresso no dashboard, pratique com flashcards e melhore continuamente.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283464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A855F7"/>
                </a:solidFill>
              </a:defRPr>
            </a:pPr>
            <a:r>
              <a:t>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283464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A855F7"/>
                </a:solidFill>
              </a:defRPr>
            </a:pPr>
            <a:r>
              <a:t>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Análise de Custo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CA3AF"/>
                </a:solidFill>
              </a:defRPr>
            </a:pPr>
            <a:r>
              <a:t>Investimento acessível para um aprendizado de qualidade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2D3EE"/>
                </a:solidFill>
              </a:defRPr>
            </a:pPr>
            <a:r>
              <a:t>Sistema de Créditos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828800"/>
            <a:ext cx="137160" cy="13716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100 créditos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7373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Grátis para novos usuários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331720"/>
            <a:ext cx="137160" cy="13716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402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Correção de texto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2402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~1 crédito por correção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2834640"/>
            <a:ext cx="137160" cy="13716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7432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Prática de conversação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27432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10 créditos/minuto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337560"/>
            <a:ext cx="137160" cy="13716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2461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Paráfrase de texto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2461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~1 crédito por uso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3840480"/>
            <a:ext cx="137160" cy="13716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7490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Flashcards e jogos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37490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CA3AF"/>
                </a:solidFill>
              </a:defRPr>
            </a:pPr>
            <a:r>
              <a:t>Gratuito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1280160"/>
            <a:ext cx="3840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97316"/>
                </a:solidFill>
              </a:defRPr>
            </a:pPr>
            <a:r>
              <a:t>Comparado com Alternativas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1737360"/>
            <a:ext cx="3840480" cy="50292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182880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Professor particular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182880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EF4444"/>
                </a:solidFill>
              </a:defRPr>
            </a:pPr>
            <a:r>
              <a:t>R$ 80-150/hora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46320" y="2331720"/>
            <a:ext cx="3840480" cy="50292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0" y="242316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Curso presencial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242316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EF4444"/>
                </a:solidFill>
              </a:defRPr>
            </a:pPr>
            <a:r>
              <a:t>R$ 300-800/mês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46320" y="2926080"/>
            <a:ext cx="3840480" cy="50292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0" y="301752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Apps premium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301752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EAB308"/>
                </a:solidFill>
              </a:defRPr>
            </a:pPr>
            <a:r>
              <a:t>R$ 50-100/mês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46320" y="3520440"/>
            <a:ext cx="3840480" cy="50292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0" y="3611880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CorrectMe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0" y="36118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22C55E"/>
                </a:solidFill>
              </a:defRPr>
            </a:pPr>
            <a:r>
              <a:t>A partir de R$ 0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160520"/>
            <a:ext cx="8229600" cy="64008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2C55E"/>
                </a:solidFill>
              </a:defRPr>
            </a:pPr>
            <a:r>
              <a:t>Comece grátis com 100 créditos - Sem cartão de crédito necessário!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Por que escolher o CorrectMe?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731520"/>
            <a:ext cx="8229600" cy="457200"/>
          </a:xfrm>
          <a:prstGeom prst="roundRect">
            <a:avLst/>
          </a:prstGeom>
          <a:solidFill>
            <a:srgbClr val="251C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Recurso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8229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A855F7"/>
                </a:solidFill>
              </a:defRPr>
            </a:pPr>
            <a:r>
              <a:t>CorrectMe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8229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LanguageTool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8229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Scribbr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solidFill>
            <a:srgbClr val="191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801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Especializado em alemão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2801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2801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AB308"/>
                </a:solidFill>
              </a:defRPr>
            </a:pPr>
            <a:r>
              <a:t>Parcial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2801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AB308"/>
                </a:solidFill>
              </a:defRPr>
            </a:pPr>
            <a:r>
              <a:t>Parcial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7373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Feedback pedagógico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17373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Sim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17373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7373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AB308"/>
                </a:solidFill>
              </a:defRPr>
            </a:pPr>
            <a:r>
              <a:t>Limitado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103120"/>
            <a:ext cx="8229600" cy="457200"/>
          </a:xfrm>
          <a:prstGeom prst="rect">
            <a:avLst/>
          </a:prstGeom>
          <a:solidFill>
            <a:srgbClr val="191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945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Categorização de erros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21945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Sim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1945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1945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6517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Flashcards integrados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26517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Sim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26517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26517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solidFill>
            <a:srgbClr val="191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1089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Listas de vocabulário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31089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Sim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31089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1089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5661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Chatbot para prática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35661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Sim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5661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35661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solidFill>
            <a:srgbClr val="191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4023360"/>
            <a:ext cx="2560320" cy="457200"/>
          </a:xfrm>
          <a:prstGeom prst="rect">
            <a:avLst/>
          </a:prstGeom>
          <a:noFill/>
        </p:spPr>
        <p:txBody>
          <a:bodyPr wrap="none" lIns="137160">
            <a:spAutoFit/>
          </a:bodyPr>
          <a:lstStyle/>
          <a:p>
            <a:pPr algn="l">
              <a:defRPr sz="1100">
                <a:solidFill>
                  <a:srgbClr val="9CA3AF"/>
                </a:solidFill>
              </a:defRPr>
            </a:pPr>
            <a:r>
              <a:t>Prática de conversação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17520" y="40233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2C55E"/>
                </a:solidFill>
              </a:defRPr>
            </a:pPr>
            <a:r>
              <a:t>Sim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46320" y="402336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0" y="402336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EF4444"/>
                </a:solidFill>
              </a:defRPr>
            </a:pPr>
            <a:r>
              <a:t>Não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Ideal Para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840480" cy="128016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1463040"/>
            <a:ext cx="640080" cy="6400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417320"/>
            <a:ext cx="2651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EC4899"/>
                </a:solidFill>
              </a:defRPr>
            </a:pPr>
            <a:r>
              <a:t>Estudantes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8288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CA3AF"/>
                </a:solidFill>
              </a:defRPr>
            </a:pPr>
            <a:r>
              <a:t>Preparando para provas Goethe, TestDaF, DSH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188720"/>
            <a:ext cx="3840480" cy="128016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029200" y="1463040"/>
            <a:ext cx="640080" cy="6400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1417320"/>
            <a:ext cx="2651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A855F7"/>
                </a:solidFill>
              </a:defRPr>
            </a:pPr>
            <a:r>
              <a:t>Profissionais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18288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CA3AF"/>
                </a:solidFill>
              </a:defRPr>
            </a:pPr>
            <a:r>
              <a:t>Que precisam escrever em alemão no trabalho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97480"/>
            <a:ext cx="3840480" cy="128016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297180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2926080"/>
            <a:ext cx="2651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B82F6"/>
                </a:solidFill>
              </a:defRPr>
            </a:pPr>
            <a:r>
              <a:t>Professores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3375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CA3AF"/>
                </a:solidFill>
              </a:defRPr>
            </a:pPr>
            <a:r>
              <a:t>Que querem otimizar correções de alunos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46320" y="2697480"/>
            <a:ext cx="3840480" cy="128016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29200" y="2971800"/>
            <a:ext cx="640080" cy="6400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160" y="2926080"/>
            <a:ext cx="2651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2C55E"/>
                </a:solidFill>
              </a:defRPr>
            </a:pPr>
            <a:r>
              <a:t>Aprendizes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333756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CA3AF"/>
                </a:solidFill>
              </a:defRPr>
            </a:pPr>
            <a:r>
              <a:t>De qualquer nível, do iniciante ao avançado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A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brancofundoTransparente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457200"/>
            <a:ext cx="2133600" cy="1280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9202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Comece a dominar o alemão hoje!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A855F7"/>
                </a:solidFill>
              </a:defRPr>
            </a:pPr>
            <a:r>
              <a:t>Experimente grátis - 100 créditos para novos usuários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3383280"/>
            <a:ext cx="4572000" cy="731520"/>
          </a:xfrm>
          <a:prstGeom prst="roundRect">
            <a:avLst/>
          </a:prstGeom>
          <a:solidFill>
            <a:srgbClr val="251C45"/>
          </a:solidFill>
          <a:ln w="254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352044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C4899"/>
                </a:solidFill>
              </a:defRPr>
            </a:pPr>
            <a:r>
              <a:t>correctme.com.br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2D3EE"/>
                </a:solidFill>
              </a:defRPr>
            </a:pPr>
            <a:r>
              <a:t>Dr. Thiago R. S. Pastro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4823460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9CA3AF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